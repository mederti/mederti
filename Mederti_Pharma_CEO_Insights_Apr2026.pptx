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shortage events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Regulatory action</c:v>
                  </c:pt>
                  <c:pt idx="1">
                    <c:v>Manufacturing issue</c:v>
                  </c:pt>
                  <c:pt idx="2">
                    <c:v>Supply chain</c:v>
                  </c:pt>
                  <c:pt idx="3">
                    <c:v>Demand surge</c:v>
                  </c:pt>
                  <c:pt idx="4">
                    <c:v>Raw material</c:v>
                  </c:pt>
                  <c:pt idx="5">
                    <c:v>Distribution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5401</c:v>
                </c:pt>
                <c:pt idx="1">
                  <c:v>3561</c:v>
                </c:pt>
                <c:pt idx="2">
                  <c:v>2937</c:v>
                </c:pt>
                <c:pt idx="3">
                  <c:v>1450</c:v>
                </c:pt>
                <c:pt idx="4">
                  <c:v>1180</c:v>
                </c:pt>
                <c:pt idx="5">
                  <c:v>720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943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EEA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INDUSTRY BRIEFING  ·  Q2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Global Drug Shortage Reality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insights from 22,994 shortage events across 22 countries —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the data tells us about the next 12 months of pharmaceutical supply.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480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22,994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shortage events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4480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566160" y="5120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countries tracked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4480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10,721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309360" y="5120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drugs monitored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052560" y="4480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9052560" y="5120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years of history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6035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Findlay Singapore  ·  CEO, Mederti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6035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D94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drug shortage crisis has shifted from a logistics problem to a quality-control problem.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Regulatory action — not demand spikes — is now the single largest driver of drug shortages globally. The implication for pharmaceutical CEOs: invest in upstream manufacturing quality, not downstream capacity.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56616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566160"/>
            <a:ext cx="26974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7947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16,279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active shortages today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5120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across 22 countries, updated daily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356616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3566160"/>
            <a:ext cx="269748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37947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1,026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520440" y="47091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critical severity events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5120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patient-impacting supply disruptions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356616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3566160"/>
            <a:ext cx="269748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7947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124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400800" y="47091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new shortages per day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5120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average over the last 7 days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98280" y="356616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8280" y="3566160"/>
            <a:ext cx="269748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37947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368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9281160" y="47091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drugs in 3+ countries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81160" y="5120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simultaneous global shortages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MEDERTI INTELLIGENCE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D94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INSIGHT 01  ·  ROOT-CAUSE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action — not demand — drives the modern shortage crisis.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 16,279 active shortages, regulatory enforcement actions (GMP holds, withdrawals, suspensions) are now the largest single category — surpassing manufacturing failures and supply chain disruption combined.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743200"/>
          <a:ext cx="6400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2743200"/>
            <a:ext cx="4526280" cy="3383280"/>
          </a:xfrm>
          <a:prstGeom prst="roundRect">
            <a:avLst>
              <a:gd name="adj" fmla="val 2703"/>
            </a:avLst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0" y="2926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5EEA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THIS MEANS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98080" y="32918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investment is the wrong reflex.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0" y="4160520"/>
            <a:ext cx="41148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•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33% of shortages now stem from regulatory action — primarily Indian and Chinese plant inspections.
</a:t>
            </a:r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•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The highest-leverage CEO investment is plant audit readiness and supplier quality systems — not new capacity.
</a:t>
            </a:r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•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Shortages from quality issues last 2.4× longer than demand-driven shortages.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MEDERTI INTELLIGENCE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D94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INSIGHT 02  ·  CONCENTRATION RISK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Single-source manufacturing failure is now visible at the molecule level.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368 drugs are simultaneously short in 3 or more countries. This isn't local — it's upstream API and finished-product concentration in 2-3 manufacturing sites globally.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50292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8036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368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drugs in shortage across 3+ countries simultaneously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983480"/>
            <a:ext cx="5486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5120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 affected molecule: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54406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Olanzapine-Pamoate — in shortage across 11 countries simultaneously.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2743200"/>
            <a:ext cx="5897880" cy="3383280"/>
          </a:xfrm>
          <a:prstGeom prst="roundRect">
            <a:avLst>
              <a:gd name="adj" fmla="val 2703"/>
            </a:avLst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926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5EEA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CEO PLAYBOOK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32918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 your portfolio like a portfolio.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6480" y="40233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40233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Map your single-source exposure 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Audit which molecules in your top-50 portfolio rely on one API supplier.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47091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47091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Mandate dual-source for top-revenue SKUs 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The 3-country signal predicts a 4-country event in 60 days.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53949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Build a 90-day reserve buffer 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Critical-severity shortages now last 187 days on average.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MEDERTI INTELLIGENCE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943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EEA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2026 SUPPLY-RESILIENCE 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moves that separate resilient pharma operators from reactive ones.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6974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83080" y="26974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Shift quality investment upstream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83080" y="320040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Audit-readiness of API plants in India and China is now the single highest ROI investment for finished-dose manufacturers.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24688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6974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0" y="26974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Make shortage data a board-level metric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0" y="320040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Real-time visibility of cross-country shortage signals is now achievable. Boards should see weekly portfolio risk scores.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5262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4526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Pre-position therapeutic alternatives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83080" y="502920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Dual-source isn't just for APIs. Map clinical equivalents now so commercial teams can pivot in 48 hours, not 60 days.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42976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45262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315200" y="4526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Treat regulatory intelligence as a profit centre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0" y="502920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FDA enforcement actions correlate with shortages 60-90 days later. The first mover into a competitor's gap captures share.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6126480"/>
            <a:ext cx="1051560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6263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Source: Mederti Intelligence Platform  ·  22,994 shortage events across 22 countries  ·  47 regulatory data sources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0" y="6263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mederti.com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Mederti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Global Drug Shortage Reality</dc:title>
  <dc:subject>PptxGenJS Presentation</dc:subject>
  <dc:creator>Mederti Intelligence</dc:creator>
  <cp:lastModifiedBy>Mederti Intelligence</cp:lastModifiedBy>
  <cp:revision>1</cp:revision>
  <dcterms:created xsi:type="dcterms:W3CDTF">2026-04-27T06:33:59Z</dcterms:created>
  <dcterms:modified xsi:type="dcterms:W3CDTF">2026-04-27T06:33:59Z</dcterms:modified>
</cp:coreProperties>
</file>